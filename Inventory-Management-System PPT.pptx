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37503" y="2569629"/>
            <a:ext cx="6318250" cy="1532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9091" y="2550083"/>
            <a:ext cx="12313285" cy="321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sp>
          <p:nvSpPr>
            <p:cNvPr id="3" name="object 3" descr=""/>
            <p:cNvSpPr/>
            <p:nvPr/>
          </p:nvSpPr>
          <p:spPr>
            <a:xfrm>
              <a:off x="5486400" y="0"/>
              <a:ext cx="9144000" cy="8229600"/>
            </a:xfrm>
            <a:custGeom>
              <a:avLst/>
              <a:gdLst/>
              <a:ahLst/>
              <a:cxnLst/>
              <a:rect l="l" t="t" r="r" b="b"/>
              <a:pathLst>
                <a:path w="9144000" h="8229600">
                  <a:moveTo>
                    <a:pt x="0" y="8229600"/>
                  </a:moveTo>
                  <a:lnTo>
                    <a:pt x="9144000" y="8229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9192" y="7749540"/>
              <a:ext cx="1722602" cy="41147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486400" cy="82296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050"/>
              </a:lnSpc>
              <a:tabLst>
                <a:tab pos="2715260" algn="l"/>
              </a:tabLst>
            </a:pPr>
            <a:r>
              <a:rPr dirty="0" spc="-10"/>
              <a:t>Inventory</a:t>
            </a:r>
            <a:r>
              <a:rPr dirty="0"/>
              <a:t>	</a:t>
            </a:r>
            <a:r>
              <a:rPr dirty="0" spc="-10"/>
              <a:t>Management System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337503" y="4461091"/>
            <a:ext cx="7196455" cy="120650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practical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guide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tracking,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managing,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controlling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levels</a:t>
            </a:r>
            <a:endParaRPr sz="1900">
              <a:latin typeface="Arial"/>
              <a:cs typeface="Arial"/>
            </a:endParaRPr>
          </a:p>
          <a:p>
            <a:pPr marL="12700" marR="836294">
              <a:lnSpc>
                <a:spcPct val="136000"/>
              </a:lnSpc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built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want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reduce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losses,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eliminate guesswork,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operate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more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efficiently.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654" y="652622"/>
            <a:ext cx="6000115" cy="131826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200"/>
              </a:lnSpc>
              <a:tabLst>
                <a:tab pos="1066800" algn="l"/>
                <a:tab pos="3175635" algn="l"/>
                <a:tab pos="4258310" algn="l"/>
              </a:tabLst>
            </a:pPr>
            <a:r>
              <a:rPr dirty="0" sz="4150" spc="-25"/>
              <a:t>The</a:t>
            </a:r>
            <a:r>
              <a:rPr dirty="0" sz="4150"/>
              <a:t>	</a:t>
            </a:r>
            <a:r>
              <a:rPr dirty="0" sz="4150" spc="-10"/>
              <a:t>Problem</a:t>
            </a:r>
            <a:r>
              <a:rPr dirty="0" sz="4150"/>
              <a:t>	</a:t>
            </a:r>
            <a:r>
              <a:rPr dirty="0" sz="4150" spc="-20"/>
              <a:t>with</a:t>
            </a:r>
            <a:r>
              <a:rPr dirty="0" sz="4150"/>
              <a:t>	</a:t>
            </a:r>
            <a:r>
              <a:rPr dirty="0" sz="4150" spc="-20"/>
              <a:t>Manual </a:t>
            </a:r>
            <a:r>
              <a:rPr dirty="0" sz="4150" spc="-10"/>
              <a:t>Inventory</a:t>
            </a:r>
            <a:endParaRPr sz="4150"/>
          </a:p>
        </p:txBody>
      </p:sp>
      <p:sp>
        <p:nvSpPr>
          <p:cNvPr id="4" name="object 4" descr=""/>
          <p:cNvSpPr txBox="1"/>
          <p:nvPr/>
        </p:nvSpPr>
        <p:spPr>
          <a:xfrm>
            <a:off x="729654" y="2230412"/>
            <a:ext cx="7450455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Every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sells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products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faces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same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challenge: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keeping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accurate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of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stock,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been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sold,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what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needs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reordering.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Manual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tracking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leads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costly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mistakes.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38544" y="3395307"/>
            <a:ext cx="3746500" cy="2489200"/>
            <a:chOff x="738544" y="3395307"/>
            <a:chExt cx="3746500" cy="2489200"/>
          </a:xfrm>
        </p:grpSpPr>
        <p:sp>
          <p:nvSpPr>
            <p:cNvPr id="6" name="object 6" descr=""/>
            <p:cNvSpPr/>
            <p:nvPr/>
          </p:nvSpPr>
          <p:spPr>
            <a:xfrm>
              <a:off x="74235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3649345" y="0"/>
                  </a:moveTo>
                  <a:lnTo>
                    <a:pt x="89093" y="0"/>
                  </a:lnTo>
                  <a:lnTo>
                    <a:pt x="54553" y="7048"/>
                  </a:lnTo>
                  <a:lnTo>
                    <a:pt x="26218" y="26219"/>
                  </a:lnTo>
                  <a:lnTo>
                    <a:pt x="7047" y="54553"/>
                  </a:lnTo>
                  <a:lnTo>
                    <a:pt x="0" y="89090"/>
                  </a:lnTo>
                  <a:lnTo>
                    <a:pt x="0" y="2391930"/>
                  </a:lnTo>
                  <a:lnTo>
                    <a:pt x="7047" y="2426467"/>
                  </a:lnTo>
                  <a:lnTo>
                    <a:pt x="26218" y="2454802"/>
                  </a:lnTo>
                  <a:lnTo>
                    <a:pt x="54553" y="2473973"/>
                  </a:lnTo>
                  <a:lnTo>
                    <a:pt x="89093" y="2481021"/>
                  </a:lnTo>
                  <a:lnTo>
                    <a:pt x="3649345" y="2481021"/>
                  </a:lnTo>
                  <a:lnTo>
                    <a:pt x="3683889" y="2473973"/>
                  </a:lnTo>
                  <a:lnTo>
                    <a:pt x="3712227" y="2454802"/>
                  </a:lnTo>
                  <a:lnTo>
                    <a:pt x="3731399" y="2426467"/>
                  </a:lnTo>
                  <a:lnTo>
                    <a:pt x="3738448" y="2391930"/>
                  </a:lnTo>
                  <a:lnTo>
                    <a:pt x="3738448" y="89090"/>
                  </a:lnTo>
                  <a:lnTo>
                    <a:pt x="3731399" y="54553"/>
                  </a:lnTo>
                  <a:lnTo>
                    <a:pt x="3712227" y="26219"/>
                  </a:lnTo>
                  <a:lnTo>
                    <a:pt x="3683889" y="7048"/>
                  </a:lnTo>
                  <a:lnTo>
                    <a:pt x="3649345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4235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0" y="89090"/>
                  </a:moveTo>
                  <a:lnTo>
                    <a:pt x="7047" y="54553"/>
                  </a:lnTo>
                  <a:lnTo>
                    <a:pt x="26218" y="26219"/>
                  </a:lnTo>
                  <a:lnTo>
                    <a:pt x="54553" y="7048"/>
                  </a:lnTo>
                  <a:lnTo>
                    <a:pt x="89093" y="0"/>
                  </a:lnTo>
                  <a:lnTo>
                    <a:pt x="3649345" y="0"/>
                  </a:lnTo>
                  <a:lnTo>
                    <a:pt x="3683889" y="7048"/>
                  </a:lnTo>
                  <a:lnTo>
                    <a:pt x="3712227" y="26219"/>
                  </a:lnTo>
                  <a:lnTo>
                    <a:pt x="3731399" y="54553"/>
                  </a:lnTo>
                  <a:lnTo>
                    <a:pt x="3738448" y="89090"/>
                  </a:lnTo>
                  <a:lnTo>
                    <a:pt x="3738448" y="2391930"/>
                  </a:lnTo>
                  <a:lnTo>
                    <a:pt x="3731399" y="2426467"/>
                  </a:lnTo>
                  <a:lnTo>
                    <a:pt x="3712227" y="2454802"/>
                  </a:lnTo>
                  <a:lnTo>
                    <a:pt x="3683889" y="2473973"/>
                  </a:lnTo>
                  <a:lnTo>
                    <a:pt x="3649345" y="2481021"/>
                  </a:lnTo>
                  <a:lnTo>
                    <a:pt x="89093" y="2481021"/>
                  </a:lnTo>
                  <a:lnTo>
                    <a:pt x="54553" y="2473973"/>
                  </a:lnTo>
                  <a:lnTo>
                    <a:pt x="26218" y="2454802"/>
                  </a:lnTo>
                  <a:lnTo>
                    <a:pt x="7047" y="2426467"/>
                  </a:lnTo>
                  <a:lnTo>
                    <a:pt x="0" y="2391930"/>
                  </a:lnTo>
                  <a:lnTo>
                    <a:pt x="0" y="89090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949325" y="3593896"/>
            <a:ext cx="322389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680">
                <a:latin typeface="Segoe UI Symbol"/>
                <a:cs typeface="Segoe UI Symbol"/>
              </a:rPr>
              <a:t>❌</a:t>
            </a:r>
            <a:r>
              <a:rPr dirty="0" sz="2050" spc="5">
                <a:latin typeface="Segoe UI Symbol"/>
                <a:cs typeface="Segoe UI Symbo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Errors</a:t>
            </a:r>
            <a:r>
              <a:rPr dirty="0" sz="20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20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Missing</a:t>
            </a:r>
            <a:r>
              <a:rPr dirty="0" sz="20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49325" y="4381271"/>
            <a:ext cx="2983230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Human</a:t>
            </a:r>
            <a:r>
              <a:rPr dirty="0" sz="16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dirty="0" sz="16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mistakes</a:t>
            </a:r>
            <a:r>
              <a:rPr dirty="0" sz="16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cause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discrepancies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snowball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into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bigger problems over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time.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659274" y="3395307"/>
            <a:ext cx="3746500" cy="2489200"/>
            <a:chOff x="4659274" y="3395307"/>
            <a:chExt cx="3746500" cy="2489200"/>
          </a:xfrm>
        </p:grpSpPr>
        <p:sp>
          <p:nvSpPr>
            <p:cNvPr id="11" name="object 11" descr=""/>
            <p:cNvSpPr/>
            <p:nvPr/>
          </p:nvSpPr>
          <p:spPr>
            <a:xfrm>
              <a:off x="466308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3649472" y="0"/>
                  </a:moveTo>
                  <a:lnTo>
                    <a:pt x="89093" y="0"/>
                  </a:lnTo>
                  <a:lnTo>
                    <a:pt x="54553" y="7048"/>
                  </a:lnTo>
                  <a:lnTo>
                    <a:pt x="26218" y="26219"/>
                  </a:lnTo>
                  <a:lnTo>
                    <a:pt x="7047" y="54553"/>
                  </a:lnTo>
                  <a:lnTo>
                    <a:pt x="0" y="89090"/>
                  </a:lnTo>
                  <a:lnTo>
                    <a:pt x="0" y="2391930"/>
                  </a:lnTo>
                  <a:lnTo>
                    <a:pt x="7047" y="2426467"/>
                  </a:lnTo>
                  <a:lnTo>
                    <a:pt x="26218" y="2454802"/>
                  </a:lnTo>
                  <a:lnTo>
                    <a:pt x="54553" y="2473973"/>
                  </a:lnTo>
                  <a:lnTo>
                    <a:pt x="89093" y="2481021"/>
                  </a:lnTo>
                  <a:lnTo>
                    <a:pt x="3649472" y="2481021"/>
                  </a:lnTo>
                  <a:lnTo>
                    <a:pt x="3684009" y="2473973"/>
                  </a:lnTo>
                  <a:lnTo>
                    <a:pt x="3712343" y="2454802"/>
                  </a:lnTo>
                  <a:lnTo>
                    <a:pt x="3731514" y="2426467"/>
                  </a:lnTo>
                  <a:lnTo>
                    <a:pt x="3738562" y="2391930"/>
                  </a:lnTo>
                  <a:lnTo>
                    <a:pt x="3738562" y="89090"/>
                  </a:lnTo>
                  <a:lnTo>
                    <a:pt x="3731514" y="54553"/>
                  </a:lnTo>
                  <a:lnTo>
                    <a:pt x="3712343" y="26219"/>
                  </a:lnTo>
                  <a:lnTo>
                    <a:pt x="3684009" y="7048"/>
                  </a:lnTo>
                  <a:lnTo>
                    <a:pt x="364947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6308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0" y="89090"/>
                  </a:moveTo>
                  <a:lnTo>
                    <a:pt x="7047" y="54553"/>
                  </a:lnTo>
                  <a:lnTo>
                    <a:pt x="26218" y="26219"/>
                  </a:lnTo>
                  <a:lnTo>
                    <a:pt x="54553" y="7048"/>
                  </a:lnTo>
                  <a:lnTo>
                    <a:pt x="89093" y="0"/>
                  </a:lnTo>
                  <a:lnTo>
                    <a:pt x="3649472" y="0"/>
                  </a:lnTo>
                  <a:lnTo>
                    <a:pt x="3684009" y="7048"/>
                  </a:lnTo>
                  <a:lnTo>
                    <a:pt x="3712343" y="26219"/>
                  </a:lnTo>
                  <a:lnTo>
                    <a:pt x="3731514" y="54553"/>
                  </a:lnTo>
                  <a:lnTo>
                    <a:pt x="3738562" y="89090"/>
                  </a:lnTo>
                  <a:lnTo>
                    <a:pt x="3738562" y="2391930"/>
                  </a:lnTo>
                  <a:lnTo>
                    <a:pt x="3731514" y="2426467"/>
                  </a:lnTo>
                  <a:lnTo>
                    <a:pt x="3712343" y="2454802"/>
                  </a:lnTo>
                  <a:lnTo>
                    <a:pt x="3684009" y="2473973"/>
                  </a:lnTo>
                  <a:lnTo>
                    <a:pt x="3649472" y="2481021"/>
                  </a:lnTo>
                  <a:lnTo>
                    <a:pt x="89093" y="2481021"/>
                  </a:lnTo>
                  <a:lnTo>
                    <a:pt x="54553" y="2473973"/>
                  </a:lnTo>
                  <a:lnTo>
                    <a:pt x="26218" y="2454802"/>
                  </a:lnTo>
                  <a:lnTo>
                    <a:pt x="7047" y="2426467"/>
                  </a:lnTo>
                  <a:lnTo>
                    <a:pt x="0" y="2391930"/>
                  </a:lnTo>
                  <a:lnTo>
                    <a:pt x="0" y="89090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870056" y="3551658"/>
            <a:ext cx="2948940" cy="2099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59155">
              <a:lnSpc>
                <a:spcPct val="113500"/>
              </a:lnSpc>
              <a:spcBef>
                <a:spcPts val="100"/>
              </a:spcBef>
            </a:pPr>
            <a:r>
              <a:rPr dirty="0" sz="2050" spc="-680">
                <a:latin typeface="Segoe UI Symbol"/>
                <a:cs typeface="Segoe UI Symbol"/>
              </a:rPr>
              <a:t>❌</a:t>
            </a:r>
            <a:r>
              <a:rPr dirty="0" sz="2050" spc="5">
                <a:latin typeface="Segoe UI Symbol"/>
                <a:cs typeface="Segoe UI Symbo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Overstocking</a:t>
            </a:r>
            <a:r>
              <a:rPr dirty="0" sz="2050" spc="-10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E1E6E9"/>
                </a:solidFill>
                <a:latin typeface="Arial"/>
                <a:cs typeface="Arial"/>
              </a:rPr>
              <a:t>or 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Shortages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3700"/>
              </a:lnSpc>
              <a:spcBef>
                <a:spcPts val="944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Without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real-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visibility,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either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tie</a:t>
            </a:r>
            <a:r>
              <a:rPr dirty="0" sz="1650" spc="-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up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cash</a:t>
            </a:r>
            <a:r>
              <a:rPr dirty="0" sz="1650" spc="-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in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excess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1650" spc="-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or</a:t>
            </a:r>
            <a:r>
              <a:rPr dirty="0" sz="1650" spc="-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disappoint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customers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empty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shelves.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8544" y="6058611"/>
            <a:ext cx="7666990" cy="1526540"/>
            <a:chOff x="738544" y="6058611"/>
            <a:chExt cx="7666990" cy="1526540"/>
          </a:xfrm>
        </p:grpSpPr>
        <p:sp>
          <p:nvSpPr>
            <p:cNvPr id="15" name="object 15" descr=""/>
            <p:cNvSpPr/>
            <p:nvPr/>
          </p:nvSpPr>
          <p:spPr>
            <a:xfrm>
              <a:off x="742354" y="6062421"/>
              <a:ext cx="7659370" cy="1518920"/>
            </a:xfrm>
            <a:custGeom>
              <a:avLst/>
              <a:gdLst/>
              <a:ahLst/>
              <a:cxnLst/>
              <a:rect l="l" t="t" r="r" b="b"/>
              <a:pathLst>
                <a:path w="7659370" h="1518920">
                  <a:moveTo>
                    <a:pt x="7570203" y="0"/>
                  </a:moveTo>
                  <a:lnTo>
                    <a:pt x="89083" y="0"/>
                  </a:lnTo>
                  <a:lnTo>
                    <a:pt x="54547" y="7046"/>
                  </a:lnTo>
                  <a:lnTo>
                    <a:pt x="26215" y="26212"/>
                  </a:lnTo>
                  <a:lnTo>
                    <a:pt x="7046" y="54542"/>
                  </a:lnTo>
                  <a:lnTo>
                    <a:pt x="0" y="89077"/>
                  </a:lnTo>
                  <a:lnTo>
                    <a:pt x="0" y="1429562"/>
                  </a:lnTo>
                  <a:lnTo>
                    <a:pt x="7046" y="1464098"/>
                  </a:lnTo>
                  <a:lnTo>
                    <a:pt x="26215" y="1492427"/>
                  </a:lnTo>
                  <a:lnTo>
                    <a:pt x="54547" y="1511594"/>
                  </a:lnTo>
                  <a:lnTo>
                    <a:pt x="89083" y="1518640"/>
                  </a:lnTo>
                  <a:lnTo>
                    <a:pt x="7570203" y="1518640"/>
                  </a:lnTo>
                  <a:lnTo>
                    <a:pt x="7604740" y="1511594"/>
                  </a:lnTo>
                  <a:lnTo>
                    <a:pt x="7633074" y="1492427"/>
                  </a:lnTo>
                  <a:lnTo>
                    <a:pt x="7652245" y="1464098"/>
                  </a:lnTo>
                  <a:lnTo>
                    <a:pt x="7659293" y="1429562"/>
                  </a:lnTo>
                  <a:lnTo>
                    <a:pt x="7659293" y="89077"/>
                  </a:lnTo>
                  <a:lnTo>
                    <a:pt x="7652245" y="54542"/>
                  </a:lnTo>
                  <a:lnTo>
                    <a:pt x="7633074" y="26212"/>
                  </a:lnTo>
                  <a:lnTo>
                    <a:pt x="7604740" y="7046"/>
                  </a:lnTo>
                  <a:lnTo>
                    <a:pt x="757020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2354" y="6062421"/>
              <a:ext cx="7659370" cy="1518920"/>
            </a:xfrm>
            <a:custGeom>
              <a:avLst/>
              <a:gdLst/>
              <a:ahLst/>
              <a:cxnLst/>
              <a:rect l="l" t="t" r="r" b="b"/>
              <a:pathLst>
                <a:path w="7659370" h="1518920">
                  <a:moveTo>
                    <a:pt x="0" y="89077"/>
                  </a:moveTo>
                  <a:lnTo>
                    <a:pt x="7046" y="54542"/>
                  </a:lnTo>
                  <a:lnTo>
                    <a:pt x="26215" y="26212"/>
                  </a:lnTo>
                  <a:lnTo>
                    <a:pt x="54547" y="7046"/>
                  </a:lnTo>
                  <a:lnTo>
                    <a:pt x="89083" y="0"/>
                  </a:lnTo>
                  <a:lnTo>
                    <a:pt x="7570203" y="0"/>
                  </a:lnTo>
                  <a:lnTo>
                    <a:pt x="7604740" y="7046"/>
                  </a:lnTo>
                  <a:lnTo>
                    <a:pt x="7633074" y="26212"/>
                  </a:lnTo>
                  <a:lnTo>
                    <a:pt x="7652245" y="54542"/>
                  </a:lnTo>
                  <a:lnTo>
                    <a:pt x="7659293" y="89077"/>
                  </a:lnTo>
                  <a:lnTo>
                    <a:pt x="7659293" y="1429562"/>
                  </a:lnTo>
                  <a:lnTo>
                    <a:pt x="7652245" y="1464098"/>
                  </a:lnTo>
                  <a:lnTo>
                    <a:pt x="7633074" y="1492427"/>
                  </a:lnTo>
                  <a:lnTo>
                    <a:pt x="7604740" y="1511594"/>
                  </a:lnTo>
                  <a:lnTo>
                    <a:pt x="7570203" y="1518640"/>
                  </a:lnTo>
                  <a:lnTo>
                    <a:pt x="89083" y="1518640"/>
                  </a:lnTo>
                  <a:lnTo>
                    <a:pt x="54547" y="1511594"/>
                  </a:lnTo>
                  <a:lnTo>
                    <a:pt x="26215" y="1492427"/>
                  </a:lnTo>
                  <a:lnTo>
                    <a:pt x="7046" y="1464098"/>
                  </a:lnTo>
                  <a:lnTo>
                    <a:pt x="0" y="1429562"/>
                  </a:lnTo>
                  <a:lnTo>
                    <a:pt x="0" y="89077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49325" y="6257201"/>
            <a:ext cx="7197090" cy="1104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680">
                <a:latin typeface="Segoe UI Symbol"/>
                <a:cs typeface="Segoe UI Symbol"/>
              </a:rPr>
              <a:t>❌</a:t>
            </a:r>
            <a:r>
              <a:rPr dirty="0" sz="2050" spc="5">
                <a:latin typeface="Segoe UI Symbol"/>
                <a:cs typeface="Segoe UI Symbo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Wasted</a:t>
            </a:r>
            <a:r>
              <a:rPr dirty="0" sz="205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3700"/>
              </a:lnSpc>
              <a:spcBef>
                <a:spcPts val="1130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counts,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spreadsheets,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paper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logs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drain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hours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could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be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spent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growing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business.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098" y="1770964"/>
            <a:ext cx="11998960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9885" algn="l"/>
                <a:tab pos="2270125" algn="l"/>
                <a:tab pos="3126740" algn="l"/>
                <a:tab pos="5829300" algn="l"/>
                <a:tab pos="9591040" algn="l"/>
              </a:tabLst>
            </a:pPr>
            <a:r>
              <a:rPr dirty="0" spc="-20"/>
              <a:t>What</a:t>
            </a:r>
            <a:r>
              <a:rPr dirty="0"/>
              <a:t>	</a:t>
            </a:r>
            <a:r>
              <a:rPr dirty="0" spc="-25"/>
              <a:t>Is</a:t>
            </a:r>
            <a:r>
              <a:rPr dirty="0"/>
              <a:t>	</a:t>
            </a:r>
            <a:r>
              <a:rPr dirty="0" spc="-25"/>
              <a:t>an</a:t>
            </a:r>
            <a:r>
              <a:rPr dirty="0"/>
              <a:t>	</a:t>
            </a:r>
            <a:r>
              <a:rPr dirty="0" spc="-10"/>
              <a:t>Inventory</a:t>
            </a:r>
            <a:r>
              <a:rPr dirty="0"/>
              <a:t>	</a:t>
            </a:r>
            <a:r>
              <a:rPr dirty="0" spc="-10"/>
              <a:t>Management</a:t>
            </a:r>
            <a:r>
              <a:rPr dirty="0"/>
              <a:t>	</a:t>
            </a:r>
            <a:r>
              <a:rPr dirty="0" spc="-10"/>
              <a:t>System?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798" y="3310648"/>
            <a:ext cx="4124439" cy="274962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585383" y="3113176"/>
            <a:ext cx="8080375" cy="3006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dirty="0" sz="1900" spc="-4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E1E6E9"/>
                </a:solidFill>
                <a:latin typeface="Arial"/>
                <a:cs typeface="Arial"/>
              </a:rPr>
              <a:t>Management</a:t>
            </a:r>
            <a:r>
              <a:rPr dirty="0" sz="1900" spc="-50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dirty="0" sz="1900" spc="-4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E1E6E9"/>
                </a:solidFill>
                <a:latin typeface="Arial"/>
                <a:cs typeface="Arial"/>
              </a:rPr>
              <a:t>(IMS)</a:t>
            </a:r>
            <a:r>
              <a:rPr dirty="0" sz="1900" spc="-35" b="1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software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application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designed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automate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tracking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control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of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levels,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orders,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sales,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deliveries.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Stores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details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structured,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searchable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format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Provides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instant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access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current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information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Automates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routine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tasks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like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alerts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report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generation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Helps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make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faster,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data-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driven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436280"/>
            <a:ext cx="4404995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8285" algn="l"/>
              </a:tabLst>
            </a:pPr>
            <a:r>
              <a:rPr dirty="0" spc="-20"/>
              <a:t>Core</a:t>
            </a:r>
            <a:r>
              <a:rPr dirty="0"/>
              <a:t>	</a:t>
            </a:r>
            <a:r>
              <a:rPr dirty="0" spc="-10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798" y="2697721"/>
            <a:ext cx="493632" cy="49363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53222" y="2778582"/>
            <a:ext cx="5373370" cy="1332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Accurate</a:t>
            </a:r>
            <a:r>
              <a:rPr dirty="0" sz="24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24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Maintain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E1E6E9"/>
                </a:solidFill>
                <a:latin typeface="Arial"/>
                <a:cs typeface="Arial"/>
              </a:rPr>
              <a:t>up-to-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date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at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all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times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no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more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guessing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on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shelf.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9390" y="2697721"/>
            <a:ext cx="493632" cy="49363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258809" y="2778582"/>
            <a:ext cx="5051425" cy="1332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Reduce</a:t>
            </a:r>
            <a:r>
              <a:rPr dirty="0" sz="2400" spc="-1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dirty="0" sz="2400" spc="-10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Errors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Automate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validation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eliminate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costly</a:t>
            </a:r>
            <a:r>
              <a:rPr dirty="0" sz="190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mistakes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human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oversight.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3798" y="4994071"/>
            <a:ext cx="493632" cy="49363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653222" y="5074932"/>
            <a:ext cx="5267325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Generate</a:t>
            </a:r>
            <a:r>
              <a:rPr dirty="0" sz="2400" spc="-10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Reports</a:t>
            </a:r>
            <a:r>
              <a:rPr dirty="0" sz="2400" spc="-10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Easily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Produce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summaries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insights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single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command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no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compilation needed.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9390" y="4994071"/>
            <a:ext cx="493632" cy="49363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258809" y="5074932"/>
            <a:ext cx="5105400" cy="1332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Improve</a:t>
            </a:r>
            <a:r>
              <a:rPr dirty="0" sz="2400" spc="-1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Efficiency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Save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effort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by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simplifying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inventory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handling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delivery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tracking.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7162" y="670844"/>
            <a:ext cx="5704205" cy="718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8675" algn="l"/>
              </a:tabLst>
            </a:pPr>
            <a:r>
              <a:rPr dirty="0" sz="4550" spc="-10"/>
              <a:t>System</a:t>
            </a:r>
            <a:r>
              <a:rPr dirty="0" sz="4550"/>
              <a:t>	</a:t>
            </a:r>
            <a:r>
              <a:rPr dirty="0" sz="4550" spc="-10"/>
              <a:t>Requirements</a:t>
            </a:r>
            <a:endParaRPr sz="4550"/>
          </a:p>
        </p:txBody>
      </p:sp>
      <p:sp>
        <p:nvSpPr>
          <p:cNvPr id="4" name="object 4" descr=""/>
          <p:cNvSpPr txBox="1"/>
          <p:nvPr/>
        </p:nvSpPr>
        <p:spPr>
          <a:xfrm>
            <a:off x="797162" y="1920405"/>
            <a:ext cx="159512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585">
                <a:latin typeface="Segoe UI Symbol"/>
                <a:cs typeface="Segoe UI Symbol"/>
              </a:rPr>
              <a:t>💻</a:t>
            </a:r>
            <a:r>
              <a:rPr dirty="0" sz="2250" spc="5">
                <a:latin typeface="Segoe UI Symbol"/>
                <a:cs typeface="Segoe UI Symbol"/>
              </a:rPr>
              <a:t> </a:t>
            </a:r>
            <a:r>
              <a:rPr dirty="0" sz="2250" spc="-10">
                <a:solidFill>
                  <a:srgbClr val="F5EFEF"/>
                </a:solidFill>
                <a:latin typeface="Arial"/>
                <a:cs typeface="Arial"/>
              </a:rPr>
              <a:t>Software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09862" y="2550083"/>
            <a:ext cx="6223635" cy="3217545"/>
          </a:xfrm>
          <a:custGeom>
            <a:avLst/>
            <a:gdLst/>
            <a:ahLst/>
            <a:cxnLst/>
            <a:rect l="l" t="t" r="r" b="b"/>
            <a:pathLst>
              <a:path w="6223634" h="3217545">
                <a:moveTo>
                  <a:pt x="0" y="97180"/>
                </a:moveTo>
                <a:lnTo>
                  <a:pt x="7687" y="59503"/>
                </a:lnTo>
                <a:lnTo>
                  <a:pt x="28599" y="28597"/>
                </a:lnTo>
                <a:lnTo>
                  <a:pt x="59507" y="7687"/>
                </a:lnTo>
                <a:lnTo>
                  <a:pt x="97183" y="0"/>
                </a:lnTo>
                <a:lnTo>
                  <a:pt x="6125857" y="0"/>
                </a:lnTo>
                <a:lnTo>
                  <a:pt x="6163534" y="7687"/>
                </a:lnTo>
                <a:lnTo>
                  <a:pt x="6194440" y="28597"/>
                </a:lnTo>
                <a:lnTo>
                  <a:pt x="6215351" y="59503"/>
                </a:lnTo>
                <a:lnTo>
                  <a:pt x="6223038" y="97180"/>
                </a:lnTo>
                <a:lnTo>
                  <a:pt x="6223038" y="3119767"/>
                </a:lnTo>
                <a:lnTo>
                  <a:pt x="6215351" y="3157444"/>
                </a:lnTo>
                <a:lnTo>
                  <a:pt x="6194440" y="3188350"/>
                </a:lnTo>
                <a:lnTo>
                  <a:pt x="6163534" y="3209261"/>
                </a:lnTo>
                <a:lnTo>
                  <a:pt x="6125857" y="3216948"/>
                </a:lnTo>
                <a:lnTo>
                  <a:pt x="97183" y="3216948"/>
                </a:lnTo>
                <a:lnTo>
                  <a:pt x="59507" y="3209261"/>
                </a:lnTo>
                <a:lnTo>
                  <a:pt x="28599" y="3188350"/>
                </a:lnTo>
                <a:lnTo>
                  <a:pt x="7687" y="3157444"/>
                </a:lnTo>
                <a:lnTo>
                  <a:pt x="0" y="3119767"/>
                </a:lnTo>
                <a:lnTo>
                  <a:pt x="0" y="97180"/>
                </a:lnTo>
                <a:close/>
              </a:path>
            </a:pathLst>
          </a:custGeom>
          <a:ln w="76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592415" y="1905838"/>
            <a:ext cx="152527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835">
                <a:latin typeface="Segoe UI Symbol"/>
                <a:cs typeface="Segoe UI Symbol"/>
              </a:rPr>
              <a:t>🖥</a:t>
            </a:r>
            <a:r>
              <a:rPr dirty="0" sz="2250">
                <a:latin typeface="Segoe UI Symbol"/>
                <a:cs typeface="Segoe UI Symbol"/>
              </a:rPr>
              <a:t> </a:t>
            </a:r>
            <a:r>
              <a:rPr dirty="0" sz="2250" spc="-10">
                <a:solidFill>
                  <a:srgbClr val="F5EFEF"/>
                </a:solidFill>
                <a:latin typeface="Arial"/>
                <a:cs typeface="Arial"/>
              </a:rPr>
              <a:t>Hardware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605115" y="2550083"/>
            <a:ext cx="6223635" cy="3217545"/>
          </a:xfrm>
          <a:custGeom>
            <a:avLst/>
            <a:gdLst/>
            <a:ahLst/>
            <a:cxnLst/>
            <a:rect l="l" t="t" r="r" b="b"/>
            <a:pathLst>
              <a:path w="6223634" h="3217545">
                <a:moveTo>
                  <a:pt x="0" y="97180"/>
                </a:moveTo>
                <a:lnTo>
                  <a:pt x="7687" y="59503"/>
                </a:lnTo>
                <a:lnTo>
                  <a:pt x="28599" y="28597"/>
                </a:lnTo>
                <a:lnTo>
                  <a:pt x="59507" y="7687"/>
                </a:lnTo>
                <a:lnTo>
                  <a:pt x="97183" y="0"/>
                </a:lnTo>
                <a:lnTo>
                  <a:pt x="6125857" y="0"/>
                </a:lnTo>
                <a:lnTo>
                  <a:pt x="6163534" y="7687"/>
                </a:lnTo>
                <a:lnTo>
                  <a:pt x="6194440" y="28597"/>
                </a:lnTo>
                <a:lnTo>
                  <a:pt x="6215351" y="59503"/>
                </a:lnTo>
                <a:lnTo>
                  <a:pt x="6223038" y="97180"/>
                </a:lnTo>
                <a:lnTo>
                  <a:pt x="6223038" y="3119767"/>
                </a:lnTo>
                <a:lnTo>
                  <a:pt x="6215351" y="3157444"/>
                </a:lnTo>
                <a:lnTo>
                  <a:pt x="6194440" y="3188350"/>
                </a:lnTo>
                <a:lnTo>
                  <a:pt x="6163534" y="3209261"/>
                </a:lnTo>
                <a:lnTo>
                  <a:pt x="6125857" y="3216948"/>
                </a:lnTo>
                <a:lnTo>
                  <a:pt x="97183" y="3216948"/>
                </a:lnTo>
                <a:lnTo>
                  <a:pt x="59507" y="3209261"/>
                </a:lnTo>
                <a:lnTo>
                  <a:pt x="28599" y="3188350"/>
                </a:lnTo>
                <a:lnTo>
                  <a:pt x="7687" y="3157444"/>
                </a:lnTo>
                <a:lnTo>
                  <a:pt x="0" y="3119767"/>
                </a:lnTo>
                <a:lnTo>
                  <a:pt x="0" y="97180"/>
                </a:lnTo>
                <a:close/>
              </a:path>
            </a:pathLst>
          </a:custGeom>
          <a:ln w="76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017191" y="2550083"/>
          <a:ext cx="12313285" cy="3214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3440"/>
                <a:gridCol w="3892550"/>
                <a:gridCol w="572135"/>
                <a:gridCol w="2216150"/>
                <a:gridCol w="3432809"/>
              </a:tblGrid>
              <a:tr h="691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1800" spc="-25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1615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Windows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Linux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1615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Device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1615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Computer</a:t>
                      </a:r>
                      <a:r>
                        <a:rPr dirty="0" sz="1800" spc="-1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Laptop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1615"/>
                </a:tc>
              </a:tr>
              <a:tr h="641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Language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C++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Python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25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RAM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Minimum </a:t>
                      </a:r>
                      <a:r>
                        <a:rPr dirty="0" sz="1800" spc="-2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4GB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</a:tr>
              <a:tr h="641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MySQL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(optional)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500GB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HDD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above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</a:tr>
              <a:tr h="641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25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IDE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Code::Blocks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VS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Keyboard</a:t>
                      </a:r>
                      <a:r>
                        <a:rPr dirty="0" sz="1800" spc="-1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800" spc="-1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Mouse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</a:tr>
              <a:tr h="5988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Tools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Compiler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Editor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 spc="-10" b="1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Power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Stable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supply</a:t>
                      </a:r>
                      <a:r>
                        <a:rPr dirty="0" sz="1800" spc="-5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0"/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809862" y="6254953"/>
            <a:ext cx="13011150" cy="1303020"/>
            <a:chOff x="809862" y="6254953"/>
            <a:chExt cx="13011150" cy="1303020"/>
          </a:xfrm>
        </p:grpSpPr>
        <p:sp>
          <p:nvSpPr>
            <p:cNvPr id="10" name="object 10" descr=""/>
            <p:cNvSpPr/>
            <p:nvPr/>
          </p:nvSpPr>
          <p:spPr>
            <a:xfrm>
              <a:off x="809862" y="6254953"/>
              <a:ext cx="13011150" cy="1303020"/>
            </a:xfrm>
            <a:custGeom>
              <a:avLst/>
              <a:gdLst/>
              <a:ahLst/>
              <a:cxnLst/>
              <a:rect l="l" t="t" r="r" b="b"/>
              <a:pathLst>
                <a:path w="13011150" h="1303020">
                  <a:moveTo>
                    <a:pt x="12913487" y="0"/>
                  </a:moveTo>
                  <a:lnTo>
                    <a:pt x="97183" y="0"/>
                  </a:lnTo>
                  <a:lnTo>
                    <a:pt x="59506" y="7687"/>
                  </a:lnTo>
                  <a:lnTo>
                    <a:pt x="28599" y="28597"/>
                  </a:lnTo>
                  <a:lnTo>
                    <a:pt x="7687" y="59503"/>
                  </a:lnTo>
                  <a:lnTo>
                    <a:pt x="0" y="97180"/>
                  </a:lnTo>
                  <a:lnTo>
                    <a:pt x="0" y="1205712"/>
                  </a:lnTo>
                  <a:lnTo>
                    <a:pt x="7687" y="1243391"/>
                  </a:lnTo>
                  <a:lnTo>
                    <a:pt x="28599" y="1274302"/>
                  </a:lnTo>
                  <a:lnTo>
                    <a:pt x="59506" y="1295216"/>
                  </a:lnTo>
                  <a:lnTo>
                    <a:pt x="97183" y="1302905"/>
                  </a:lnTo>
                  <a:lnTo>
                    <a:pt x="12913487" y="1302905"/>
                  </a:lnTo>
                  <a:lnTo>
                    <a:pt x="12951170" y="1295216"/>
                  </a:lnTo>
                  <a:lnTo>
                    <a:pt x="12982066" y="1274302"/>
                  </a:lnTo>
                  <a:lnTo>
                    <a:pt x="13002962" y="1243391"/>
                  </a:lnTo>
                  <a:lnTo>
                    <a:pt x="13010642" y="1205712"/>
                  </a:lnTo>
                  <a:lnTo>
                    <a:pt x="13010642" y="97180"/>
                  </a:lnTo>
                  <a:lnTo>
                    <a:pt x="13002962" y="59503"/>
                  </a:lnTo>
                  <a:lnTo>
                    <a:pt x="12982067" y="28597"/>
                  </a:lnTo>
                  <a:lnTo>
                    <a:pt x="12951170" y="7687"/>
                  </a:lnTo>
                  <a:lnTo>
                    <a:pt x="12913487" y="0"/>
                  </a:lnTo>
                  <a:close/>
                </a:path>
              </a:pathLst>
            </a:custGeom>
            <a:solidFill>
              <a:srgbClr val="0222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201" y="6600583"/>
              <a:ext cx="289203" cy="23134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549044" y="6512090"/>
            <a:ext cx="11837670" cy="73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connection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optional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primarily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useful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updates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enabling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cloud-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database access.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089806"/>
            <a:ext cx="3688079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4600" algn="l"/>
              </a:tabLst>
            </a:pPr>
            <a:r>
              <a:rPr dirty="0" spc="-25"/>
              <a:t>Key</a:t>
            </a:r>
            <a:r>
              <a:rPr dirty="0"/>
              <a:t>	</a:t>
            </a:r>
            <a:r>
              <a:rPr dirty="0" spc="-10"/>
              <a:t>Features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33318" y="2336000"/>
            <a:ext cx="6374130" cy="2303145"/>
            <a:chOff x="833318" y="2336000"/>
            <a:chExt cx="6374130" cy="2303145"/>
          </a:xfrm>
        </p:grpSpPr>
        <p:sp>
          <p:nvSpPr>
            <p:cNvPr id="4" name="object 4" descr=""/>
            <p:cNvSpPr/>
            <p:nvPr/>
          </p:nvSpPr>
          <p:spPr>
            <a:xfrm>
              <a:off x="863798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623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623" y="2272550"/>
                  </a:lnTo>
                  <a:lnTo>
                    <a:pt x="6227661" y="2265039"/>
                  </a:lnTo>
                  <a:lnTo>
                    <a:pt x="6267800" y="2244163"/>
                  </a:lnTo>
                  <a:lnTo>
                    <a:pt x="6299552" y="2212411"/>
                  </a:lnTo>
                  <a:lnTo>
                    <a:pt x="6320428" y="2172272"/>
                  </a:lnTo>
                  <a:lnTo>
                    <a:pt x="6327940" y="2126234"/>
                  </a:lnTo>
                  <a:lnTo>
                    <a:pt x="6327940" y="146303"/>
                  </a:lnTo>
                  <a:lnTo>
                    <a:pt x="6320428" y="100267"/>
                  </a:lnTo>
                  <a:lnTo>
                    <a:pt x="6299552" y="60130"/>
                  </a:lnTo>
                  <a:lnTo>
                    <a:pt x="6267800" y="28382"/>
                  </a:lnTo>
                  <a:lnTo>
                    <a:pt x="6227661" y="7510"/>
                  </a:lnTo>
                  <a:lnTo>
                    <a:pt x="6181623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63798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623" y="0"/>
                  </a:lnTo>
                  <a:lnTo>
                    <a:pt x="6227661" y="7510"/>
                  </a:lnTo>
                  <a:lnTo>
                    <a:pt x="6267800" y="28382"/>
                  </a:lnTo>
                  <a:lnTo>
                    <a:pt x="6299552" y="60130"/>
                  </a:lnTo>
                  <a:lnTo>
                    <a:pt x="6320428" y="100267"/>
                  </a:lnTo>
                  <a:lnTo>
                    <a:pt x="6327940" y="146303"/>
                  </a:lnTo>
                  <a:lnTo>
                    <a:pt x="6327940" y="2126234"/>
                  </a:lnTo>
                  <a:lnTo>
                    <a:pt x="6320428" y="2172272"/>
                  </a:lnTo>
                  <a:lnTo>
                    <a:pt x="6299552" y="2212411"/>
                  </a:lnTo>
                  <a:lnTo>
                    <a:pt x="6267800" y="2244163"/>
                  </a:lnTo>
                  <a:lnTo>
                    <a:pt x="6227661" y="2265039"/>
                  </a:lnTo>
                  <a:lnTo>
                    <a:pt x="6181623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318" y="2351239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19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19835" y="2624632"/>
            <a:ext cx="5011420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2400" spc="-9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Add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new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products,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update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existing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details,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and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delete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discontinued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items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all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9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single interface.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408074" y="2336000"/>
            <a:ext cx="6374130" cy="2303145"/>
            <a:chOff x="7408074" y="2336000"/>
            <a:chExt cx="6374130" cy="2303145"/>
          </a:xfrm>
        </p:grpSpPr>
        <p:sp>
          <p:nvSpPr>
            <p:cNvPr id="9" name="object 9" descr=""/>
            <p:cNvSpPr/>
            <p:nvPr/>
          </p:nvSpPr>
          <p:spPr>
            <a:xfrm>
              <a:off x="7438554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750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750" y="2272550"/>
                  </a:lnTo>
                  <a:lnTo>
                    <a:pt x="6227782" y="2265039"/>
                  </a:lnTo>
                  <a:lnTo>
                    <a:pt x="6267917" y="2244163"/>
                  </a:lnTo>
                  <a:lnTo>
                    <a:pt x="6299667" y="2212411"/>
                  </a:lnTo>
                  <a:lnTo>
                    <a:pt x="6320542" y="2172272"/>
                  </a:lnTo>
                  <a:lnTo>
                    <a:pt x="6328054" y="2126234"/>
                  </a:lnTo>
                  <a:lnTo>
                    <a:pt x="6328054" y="146303"/>
                  </a:lnTo>
                  <a:lnTo>
                    <a:pt x="6320542" y="100267"/>
                  </a:lnTo>
                  <a:lnTo>
                    <a:pt x="6299667" y="60130"/>
                  </a:lnTo>
                  <a:lnTo>
                    <a:pt x="6267917" y="28382"/>
                  </a:lnTo>
                  <a:lnTo>
                    <a:pt x="6227782" y="7510"/>
                  </a:lnTo>
                  <a:lnTo>
                    <a:pt x="6181750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438554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750" y="0"/>
                  </a:lnTo>
                  <a:lnTo>
                    <a:pt x="6227782" y="7510"/>
                  </a:lnTo>
                  <a:lnTo>
                    <a:pt x="6267917" y="28382"/>
                  </a:lnTo>
                  <a:lnTo>
                    <a:pt x="6299667" y="60130"/>
                  </a:lnTo>
                  <a:lnTo>
                    <a:pt x="6320542" y="100267"/>
                  </a:lnTo>
                  <a:lnTo>
                    <a:pt x="6328054" y="146303"/>
                  </a:lnTo>
                  <a:lnTo>
                    <a:pt x="6328054" y="2126234"/>
                  </a:lnTo>
                  <a:lnTo>
                    <a:pt x="6320542" y="2172272"/>
                  </a:lnTo>
                  <a:lnTo>
                    <a:pt x="6299667" y="2212411"/>
                  </a:lnTo>
                  <a:lnTo>
                    <a:pt x="6267917" y="2244163"/>
                  </a:lnTo>
                  <a:lnTo>
                    <a:pt x="6227782" y="2265039"/>
                  </a:lnTo>
                  <a:lnTo>
                    <a:pt x="6181750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408074" y="2351239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20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794587" y="2624632"/>
            <a:ext cx="5671820" cy="1332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24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Visibility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View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search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current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levels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instantly.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See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exactly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available,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where,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what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quantity.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33318" y="4855375"/>
            <a:ext cx="6374130" cy="2303145"/>
            <a:chOff x="833318" y="4855375"/>
            <a:chExt cx="6374130" cy="2303145"/>
          </a:xfrm>
        </p:grpSpPr>
        <p:sp>
          <p:nvSpPr>
            <p:cNvPr id="14" name="object 14" descr=""/>
            <p:cNvSpPr/>
            <p:nvPr/>
          </p:nvSpPr>
          <p:spPr>
            <a:xfrm>
              <a:off x="863798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623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623" y="2272550"/>
                  </a:lnTo>
                  <a:lnTo>
                    <a:pt x="6227661" y="2265039"/>
                  </a:lnTo>
                  <a:lnTo>
                    <a:pt x="6267800" y="2244163"/>
                  </a:lnTo>
                  <a:lnTo>
                    <a:pt x="6299552" y="2212411"/>
                  </a:lnTo>
                  <a:lnTo>
                    <a:pt x="6320428" y="2172272"/>
                  </a:lnTo>
                  <a:lnTo>
                    <a:pt x="6327940" y="2126234"/>
                  </a:lnTo>
                  <a:lnTo>
                    <a:pt x="6327940" y="146303"/>
                  </a:lnTo>
                  <a:lnTo>
                    <a:pt x="6320428" y="100267"/>
                  </a:lnTo>
                  <a:lnTo>
                    <a:pt x="6299552" y="60130"/>
                  </a:lnTo>
                  <a:lnTo>
                    <a:pt x="6267800" y="28382"/>
                  </a:lnTo>
                  <a:lnTo>
                    <a:pt x="6227661" y="7510"/>
                  </a:lnTo>
                  <a:lnTo>
                    <a:pt x="6181623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63798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623" y="0"/>
                  </a:lnTo>
                  <a:lnTo>
                    <a:pt x="6227661" y="7510"/>
                  </a:lnTo>
                  <a:lnTo>
                    <a:pt x="6267800" y="28382"/>
                  </a:lnTo>
                  <a:lnTo>
                    <a:pt x="6299552" y="60130"/>
                  </a:lnTo>
                  <a:lnTo>
                    <a:pt x="6320428" y="100267"/>
                  </a:lnTo>
                  <a:lnTo>
                    <a:pt x="6327940" y="146303"/>
                  </a:lnTo>
                  <a:lnTo>
                    <a:pt x="6327940" y="2126234"/>
                  </a:lnTo>
                  <a:lnTo>
                    <a:pt x="6320428" y="2172272"/>
                  </a:lnTo>
                  <a:lnTo>
                    <a:pt x="6299552" y="2212411"/>
                  </a:lnTo>
                  <a:lnTo>
                    <a:pt x="6267800" y="2244163"/>
                  </a:lnTo>
                  <a:lnTo>
                    <a:pt x="6227661" y="2265039"/>
                  </a:lnTo>
                  <a:lnTo>
                    <a:pt x="6181623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3318" y="4870615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19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19835" y="5143995"/>
            <a:ext cx="5349240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Low</a:t>
            </a:r>
            <a:r>
              <a:rPr dirty="0" sz="24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dirty="0" sz="24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Alerts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automatically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flags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products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falling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below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defined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threshold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so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you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never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run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out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unexpectedly.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408074" y="4855375"/>
            <a:ext cx="6374130" cy="2303145"/>
            <a:chOff x="7408074" y="4855375"/>
            <a:chExt cx="6374130" cy="2303145"/>
          </a:xfrm>
        </p:grpSpPr>
        <p:sp>
          <p:nvSpPr>
            <p:cNvPr id="19" name="object 19" descr=""/>
            <p:cNvSpPr/>
            <p:nvPr/>
          </p:nvSpPr>
          <p:spPr>
            <a:xfrm>
              <a:off x="7438554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750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750" y="2272550"/>
                  </a:lnTo>
                  <a:lnTo>
                    <a:pt x="6227782" y="2265039"/>
                  </a:lnTo>
                  <a:lnTo>
                    <a:pt x="6267917" y="2244163"/>
                  </a:lnTo>
                  <a:lnTo>
                    <a:pt x="6299667" y="2212411"/>
                  </a:lnTo>
                  <a:lnTo>
                    <a:pt x="6320542" y="2172272"/>
                  </a:lnTo>
                  <a:lnTo>
                    <a:pt x="6328054" y="2126234"/>
                  </a:lnTo>
                  <a:lnTo>
                    <a:pt x="6328054" y="146303"/>
                  </a:lnTo>
                  <a:lnTo>
                    <a:pt x="6320542" y="100267"/>
                  </a:lnTo>
                  <a:lnTo>
                    <a:pt x="6299667" y="60130"/>
                  </a:lnTo>
                  <a:lnTo>
                    <a:pt x="6267917" y="28382"/>
                  </a:lnTo>
                  <a:lnTo>
                    <a:pt x="6227782" y="7510"/>
                  </a:lnTo>
                  <a:lnTo>
                    <a:pt x="6181750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438554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750" y="0"/>
                  </a:lnTo>
                  <a:lnTo>
                    <a:pt x="6227782" y="7510"/>
                  </a:lnTo>
                  <a:lnTo>
                    <a:pt x="6267917" y="28382"/>
                  </a:lnTo>
                  <a:lnTo>
                    <a:pt x="6299667" y="60130"/>
                  </a:lnTo>
                  <a:lnTo>
                    <a:pt x="6320542" y="100267"/>
                  </a:lnTo>
                  <a:lnTo>
                    <a:pt x="6328054" y="146303"/>
                  </a:lnTo>
                  <a:lnTo>
                    <a:pt x="6328054" y="2126234"/>
                  </a:lnTo>
                  <a:lnTo>
                    <a:pt x="6320542" y="2172272"/>
                  </a:lnTo>
                  <a:lnTo>
                    <a:pt x="6299667" y="2212411"/>
                  </a:lnTo>
                  <a:lnTo>
                    <a:pt x="6267917" y="2244163"/>
                  </a:lnTo>
                  <a:lnTo>
                    <a:pt x="6227782" y="2265039"/>
                  </a:lnTo>
                  <a:lnTo>
                    <a:pt x="6181750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08074" y="4870615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20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794587" y="5143995"/>
            <a:ext cx="5157470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Report</a:t>
            </a:r>
            <a:r>
              <a:rPr dirty="0" sz="2400" spc="-10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Generation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Generate</a:t>
            </a:r>
            <a:r>
              <a:rPr dirty="0" sz="190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detailed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reports</a:t>
            </a:r>
            <a:r>
              <a:rPr dirty="0" sz="1900" spc="-7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dirty="0" sz="1900" spc="-8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analysis,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audits,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smarter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planning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on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demand.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7162" y="691919"/>
            <a:ext cx="3460750" cy="718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8420" algn="l"/>
                <a:tab pos="1810385" algn="l"/>
              </a:tabLst>
            </a:pPr>
            <a:r>
              <a:rPr dirty="0" sz="4550" spc="-25"/>
              <a:t>How</a:t>
            </a:r>
            <a:r>
              <a:rPr dirty="0" sz="4550"/>
              <a:t>	</a:t>
            </a:r>
            <a:r>
              <a:rPr dirty="0" sz="4550" spc="-25"/>
              <a:t>It</a:t>
            </a:r>
            <a:r>
              <a:rPr dirty="0" sz="4550"/>
              <a:t>	</a:t>
            </a:r>
            <a:r>
              <a:rPr dirty="0" sz="4550" spc="-10"/>
              <a:t>Works</a:t>
            </a:r>
            <a:endParaRPr sz="45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222" y="1849640"/>
            <a:ext cx="12593955" cy="472582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535033" y="5237822"/>
            <a:ext cx="1229995" cy="7378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97155" marR="5080" indent="-97790">
              <a:lnSpc>
                <a:spcPct val="103299"/>
              </a:lnSpc>
              <a:spcBef>
                <a:spcPts val="5"/>
              </a:spcBef>
            </a:pPr>
            <a:r>
              <a:rPr dirty="0" sz="2300" spc="-10">
                <a:solidFill>
                  <a:srgbClr val="E1E6E9"/>
                </a:solidFill>
                <a:latin typeface="Arial"/>
                <a:cs typeface="Arial"/>
              </a:rPr>
              <a:t>Generate Reports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30213" y="5420779"/>
            <a:ext cx="16529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E1E6E9"/>
                </a:solidFill>
                <a:latin typeface="Arial"/>
                <a:cs typeface="Arial"/>
              </a:rPr>
              <a:t>Check </a:t>
            </a:r>
            <a:r>
              <a:rPr dirty="0" sz="2300" spc="-1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16986" y="5237822"/>
            <a:ext cx="1116330" cy="7378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88900" marR="5080" indent="-89535">
              <a:lnSpc>
                <a:spcPct val="103299"/>
              </a:lnSpc>
              <a:spcBef>
                <a:spcPts val="5"/>
              </a:spcBef>
            </a:pPr>
            <a:r>
              <a:rPr dirty="0" sz="2300">
                <a:solidFill>
                  <a:srgbClr val="E1E6E9"/>
                </a:solidFill>
                <a:latin typeface="Arial"/>
                <a:cs typeface="Arial"/>
              </a:rPr>
              <a:t>Update</a:t>
            </a:r>
            <a:r>
              <a:rPr dirty="0" sz="23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E1E6E9"/>
                </a:solidFill>
                <a:latin typeface="Arial"/>
                <a:cs typeface="Arial"/>
              </a:rPr>
              <a:t>/ </a:t>
            </a:r>
            <a:r>
              <a:rPr dirty="0" sz="2300" spc="-10">
                <a:solidFill>
                  <a:srgbClr val="E1E6E9"/>
                </a:solidFill>
                <a:latin typeface="Arial"/>
                <a:cs typeface="Arial"/>
              </a:rPr>
              <a:t>Search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4674" y="5237822"/>
            <a:ext cx="187960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E1E6E9"/>
                </a:solidFill>
                <a:latin typeface="Arial"/>
                <a:cs typeface="Arial"/>
              </a:rPr>
              <a:t>Store</a:t>
            </a:r>
            <a:r>
              <a:rPr dirty="0" sz="230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57015" y="5420779"/>
            <a:ext cx="140843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E1E6E9"/>
                </a:solidFill>
                <a:latin typeface="Arial"/>
                <a:cs typeface="Arial"/>
              </a:rPr>
              <a:t>Enter</a:t>
            </a:r>
            <a:r>
              <a:rPr dirty="0" sz="23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7162" y="6801891"/>
            <a:ext cx="12786995" cy="73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follows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structured,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linear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workflow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80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dirty="0" sz="180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report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output.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Every</a:t>
            </a:r>
            <a:r>
              <a:rPr dirty="0" sz="180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action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triggers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an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immediate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E1E6E9"/>
                </a:solidFill>
                <a:latin typeface="Arial"/>
                <a:cs typeface="Arial"/>
              </a:rPr>
              <a:t>update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central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store,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ensuring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stay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accurate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real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without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dirty="0" sz="180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E1E6E9"/>
                </a:solidFill>
                <a:latin typeface="Arial"/>
                <a:cs typeface="Arial"/>
              </a:rPr>
              <a:t>intervention.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040037"/>
            <a:ext cx="7281545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8040" algn="l"/>
                <a:tab pos="3949700" algn="l"/>
              </a:tabLst>
            </a:pPr>
            <a:r>
              <a:rPr dirty="0" spc="-10"/>
              <a:t>Technology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1098" y="2420911"/>
            <a:ext cx="2448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5EFEF"/>
                </a:solidFill>
                <a:latin typeface="Arial"/>
                <a:cs typeface="Arial"/>
              </a:rPr>
              <a:t>Technology</a:t>
            </a:r>
            <a:r>
              <a:rPr dirty="0" sz="2400" spc="-11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5EFEF"/>
                </a:solidFill>
                <a:latin typeface="Arial"/>
                <a:cs typeface="Arial"/>
              </a:rPr>
              <a:t>Stack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1098" y="3040303"/>
            <a:ext cx="6106160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Database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integration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(MySQL)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optional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but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recommended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dirty="0" sz="155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larger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datasets.</a:t>
            </a:r>
            <a:r>
              <a:rPr dirty="0" sz="15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IDE</a:t>
            </a:r>
            <a:r>
              <a:rPr dirty="0" sz="15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5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compiler</a:t>
            </a:r>
            <a:r>
              <a:rPr dirty="0" sz="15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tools</a:t>
            </a:r>
            <a:r>
              <a:rPr dirty="0" sz="15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complete</a:t>
            </a:r>
            <a:r>
              <a:rPr dirty="0" sz="15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5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E1E6E9"/>
                </a:solidFill>
                <a:latin typeface="Arial"/>
                <a:cs typeface="Arial"/>
              </a:rPr>
              <a:t>development environment.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11224" y="2420911"/>
            <a:ext cx="4470400" cy="2612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5EFEF"/>
                </a:solidFill>
                <a:latin typeface="Arial"/>
                <a:cs typeface="Arial"/>
              </a:rPr>
              <a:t>Where</a:t>
            </a:r>
            <a:r>
              <a:rPr dirty="0" sz="2400" spc="-35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5EFEF"/>
                </a:solidFill>
                <a:latin typeface="Arial"/>
                <a:cs typeface="Arial"/>
              </a:rPr>
              <a:t>It's</a:t>
            </a:r>
            <a:r>
              <a:rPr dirty="0" sz="2400" spc="-35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5EFEF"/>
                </a:solidFill>
                <a:latin typeface="Arial"/>
                <a:cs typeface="Arial"/>
              </a:rPr>
              <a:t>Used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Retail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stores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supermarkets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Warehouses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manufacturing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facilities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E-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commerce</a:t>
            </a:r>
            <a:r>
              <a:rPr dirty="0" sz="1900" spc="-1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Medical</a:t>
            </a:r>
            <a:r>
              <a:rPr dirty="0" sz="1900" spc="-5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stores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pharmacies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Libraries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56178" y="5732856"/>
            <a:ext cx="6343650" cy="1468120"/>
            <a:chOff x="856178" y="5732856"/>
            <a:chExt cx="6343650" cy="1468120"/>
          </a:xfrm>
        </p:grpSpPr>
        <p:sp>
          <p:nvSpPr>
            <p:cNvPr id="7" name="object 7" descr=""/>
            <p:cNvSpPr/>
            <p:nvPr/>
          </p:nvSpPr>
          <p:spPr>
            <a:xfrm>
              <a:off x="863798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6224257" y="0"/>
                  </a:moveTo>
                  <a:lnTo>
                    <a:pt x="103675" y="0"/>
                  </a:lnTo>
                  <a:lnTo>
                    <a:pt x="63482" y="8201"/>
                  </a:lnTo>
                  <a:lnTo>
                    <a:pt x="30509" y="30508"/>
                  </a:lnTo>
                  <a:lnTo>
                    <a:pt x="8201" y="63479"/>
                  </a:lnTo>
                  <a:lnTo>
                    <a:pt x="0" y="103670"/>
                  </a:lnTo>
                  <a:lnTo>
                    <a:pt x="0" y="1348765"/>
                  </a:lnTo>
                  <a:lnTo>
                    <a:pt x="8201" y="1388958"/>
                  </a:lnTo>
                  <a:lnTo>
                    <a:pt x="30509" y="1421933"/>
                  </a:lnTo>
                  <a:lnTo>
                    <a:pt x="63482" y="1444245"/>
                  </a:lnTo>
                  <a:lnTo>
                    <a:pt x="103675" y="1452448"/>
                  </a:lnTo>
                  <a:lnTo>
                    <a:pt x="6224257" y="1452448"/>
                  </a:lnTo>
                  <a:lnTo>
                    <a:pt x="6264450" y="1444245"/>
                  </a:lnTo>
                  <a:lnTo>
                    <a:pt x="6297425" y="1421933"/>
                  </a:lnTo>
                  <a:lnTo>
                    <a:pt x="6319737" y="1388958"/>
                  </a:lnTo>
                  <a:lnTo>
                    <a:pt x="6327940" y="1348765"/>
                  </a:lnTo>
                  <a:lnTo>
                    <a:pt x="6327940" y="103670"/>
                  </a:lnTo>
                  <a:lnTo>
                    <a:pt x="6319737" y="63479"/>
                  </a:lnTo>
                  <a:lnTo>
                    <a:pt x="6297425" y="30508"/>
                  </a:lnTo>
                  <a:lnTo>
                    <a:pt x="6264450" y="8201"/>
                  </a:lnTo>
                  <a:lnTo>
                    <a:pt x="6224257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63798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0" y="103670"/>
                  </a:moveTo>
                  <a:lnTo>
                    <a:pt x="8201" y="63479"/>
                  </a:lnTo>
                  <a:lnTo>
                    <a:pt x="30509" y="30508"/>
                  </a:lnTo>
                  <a:lnTo>
                    <a:pt x="63482" y="8201"/>
                  </a:lnTo>
                  <a:lnTo>
                    <a:pt x="103675" y="0"/>
                  </a:lnTo>
                  <a:lnTo>
                    <a:pt x="6224257" y="0"/>
                  </a:lnTo>
                  <a:lnTo>
                    <a:pt x="6264450" y="8201"/>
                  </a:lnTo>
                  <a:lnTo>
                    <a:pt x="6297425" y="30508"/>
                  </a:lnTo>
                  <a:lnTo>
                    <a:pt x="6319737" y="63479"/>
                  </a:lnTo>
                  <a:lnTo>
                    <a:pt x="6327940" y="103670"/>
                  </a:lnTo>
                  <a:lnTo>
                    <a:pt x="6327940" y="1348765"/>
                  </a:lnTo>
                  <a:lnTo>
                    <a:pt x="6319737" y="1388958"/>
                  </a:lnTo>
                  <a:lnTo>
                    <a:pt x="6297425" y="1421933"/>
                  </a:lnTo>
                  <a:lnTo>
                    <a:pt x="6264450" y="1444245"/>
                  </a:lnTo>
                  <a:lnTo>
                    <a:pt x="6224257" y="1452448"/>
                  </a:lnTo>
                  <a:lnTo>
                    <a:pt x="103675" y="1452448"/>
                  </a:lnTo>
                  <a:lnTo>
                    <a:pt x="63482" y="1444245"/>
                  </a:lnTo>
                  <a:lnTo>
                    <a:pt x="30509" y="1421933"/>
                  </a:lnTo>
                  <a:lnTo>
                    <a:pt x="8201" y="1388958"/>
                  </a:lnTo>
                  <a:lnTo>
                    <a:pt x="0" y="1348765"/>
                  </a:lnTo>
                  <a:lnTo>
                    <a:pt x="0" y="103670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13155" y="5998629"/>
            <a:ext cx="4290060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solidFill>
                  <a:srgbClr val="E1E6E9"/>
                </a:solidFill>
                <a:latin typeface="Arial"/>
                <a:cs typeface="Arial"/>
              </a:rPr>
              <a:t>C++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Core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language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OOP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file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handling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430934" y="5732856"/>
            <a:ext cx="6343650" cy="1468120"/>
            <a:chOff x="7430934" y="5732856"/>
            <a:chExt cx="6343650" cy="1468120"/>
          </a:xfrm>
        </p:grpSpPr>
        <p:sp>
          <p:nvSpPr>
            <p:cNvPr id="11" name="object 11" descr=""/>
            <p:cNvSpPr/>
            <p:nvPr/>
          </p:nvSpPr>
          <p:spPr>
            <a:xfrm>
              <a:off x="7438554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6224371" y="0"/>
                  </a:moveTo>
                  <a:lnTo>
                    <a:pt x="103675" y="0"/>
                  </a:lnTo>
                  <a:lnTo>
                    <a:pt x="63482" y="8201"/>
                  </a:lnTo>
                  <a:lnTo>
                    <a:pt x="30509" y="30508"/>
                  </a:lnTo>
                  <a:lnTo>
                    <a:pt x="8201" y="63479"/>
                  </a:lnTo>
                  <a:lnTo>
                    <a:pt x="0" y="103670"/>
                  </a:lnTo>
                  <a:lnTo>
                    <a:pt x="0" y="1348765"/>
                  </a:lnTo>
                  <a:lnTo>
                    <a:pt x="8201" y="1388958"/>
                  </a:lnTo>
                  <a:lnTo>
                    <a:pt x="30509" y="1421933"/>
                  </a:lnTo>
                  <a:lnTo>
                    <a:pt x="63482" y="1444245"/>
                  </a:lnTo>
                  <a:lnTo>
                    <a:pt x="103675" y="1452448"/>
                  </a:lnTo>
                  <a:lnTo>
                    <a:pt x="6224371" y="1452448"/>
                  </a:lnTo>
                  <a:lnTo>
                    <a:pt x="6264569" y="1444245"/>
                  </a:lnTo>
                  <a:lnTo>
                    <a:pt x="6297544" y="1421933"/>
                  </a:lnTo>
                  <a:lnTo>
                    <a:pt x="6319853" y="1388958"/>
                  </a:lnTo>
                  <a:lnTo>
                    <a:pt x="6328054" y="1348765"/>
                  </a:lnTo>
                  <a:lnTo>
                    <a:pt x="6328054" y="103670"/>
                  </a:lnTo>
                  <a:lnTo>
                    <a:pt x="6319853" y="63479"/>
                  </a:lnTo>
                  <a:lnTo>
                    <a:pt x="6297544" y="30508"/>
                  </a:lnTo>
                  <a:lnTo>
                    <a:pt x="6264569" y="8201"/>
                  </a:lnTo>
                  <a:lnTo>
                    <a:pt x="6224371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38554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0" y="103670"/>
                  </a:moveTo>
                  <a:lnTo>
                    <a:pt x="8201" y="63479"/>
                  </a:lnTo>
                  <a:lnTo>
                    <a:pt x="30509" y="30508"/>
                  </a:lnTo>
                  <a:lnTo>
                    <a:pt x="63482" y="8201"/>
                  </a:lnTo>
                  <a:lnTo>
                    <a:pt x="103675" y="0"/>
                  </a:lnTo>
                  <a:lnTo>
                    <a:pt x="6224371" y="0"/>
                  </a:lnTo>
                  <a:lnTo>
                    <a:pt x="6264569" y="8201"/>
                  </a:lnTo>
                  <a:lnTo>
                    <a:pt x="6297544" y="30508"/>
                  </a:lnTo>
                  <a:lnTo>
                    <a:pt x="6319853" y="63479"/>
                  </a:lnTo>
                  <a:lnTo>
                    <a:pt x="6328054" y="103670"/>
                  </a:lnTo>
                  <a:lnTo>
                    <a:pt x="6328054" y="1348765"/>
                  </a:lnTo>
                  <a:lnTo>
                    <a:pt x="6319853" y="1388958"/>
                  </a:lnTo>
                  <a:lnTo>
                    <a:pt x="6297544" y="1421933"/>
                  </a:lnTo>
                  <a:lnTo>
                    <a:pt x="6264569" y="1444245"/>
                  </a:lnTo>
                  <a:lnTo>
                    <a:pt x="6224371" y="1452448"/>
                  </a:lnTo>
                  <a:lnTo>
                    <a:pt x="103675" y="1452448"/>
                  </a:lnTo>
                  <a:lnTo>
                    <a:pt x="63482" y="1444245"/>
                  </a:lnTo>
                  <a:lnTo>
                    <a:pt x="30509" y="1421933"/>
                  </a:lnTo>
                  <a:lnTo>
                    <a:pt x="8201" y="1388958"/>
                  </a:lnTo>
                  <a:lnTo>
                    <a:pt x="0" y="1348765"/>
                  </a:lnTo>
                  <a:lnTo>
                    <a:pt x="0" y="103670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687906" y="5998629"/>
            <a:ext cx="3777615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24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E1E6E9"/>
                </a:solidFill>
                <a:latin typeface="Arial"/>
                <a:cs typeface="Arial"/>
              </a:rPr>
              <a:t>Structures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Efficient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storage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retrieval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751430"/>
            <a:ext cx="6971665" cy="764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34715" algn="l"/>
                <a:tab pos="4016375" algn="l"/>
              </a:tabLst>
            </a:pPr>
            <a:r>
              <a:rPr dirty="0" spc="-10"/>
              <a:t>Advantages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Limitations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86037" y="1889404"/>
            <a:ext cx="6506209" cy="5592445"/>
          </a:xfrm>
          <a:custGeom>
            <a:avLst/>
            <a:gdLst/>
            <a:ahLst/>
            <a:cxnLst/>
            <a:rect l="l" t="t" r="r" b="b"/>
            <a:pathLst>
              <a:path w="6506209" h="5592445">
                <a:moveTo>
                  <a:pt x="6328092" y="0"/>
                </a:moveTo>
                <a:lnTo>
                  <a:pt x="177717" y="0"/>
                </a:lnTo>
                <a:lnTo>
                  <a:pt x="130701" y="6393"/>
                </a:lnTo>
                <a:lnTo>
                  <a:pt x="88312" y="24409"/>
                </a:lnTo>
                <a:lnTo>
                  <a:pt x="52298" y="52298"/>
                </a:lnTo>
                <a:lnTo>
                  <a:pt x="24409" y="88311"/>
                </a:lnTo>
                <a:lnTo>
                  <a:pt x="6393" y="130698"/>
                </a:lnTo>
                <a:lnTo>
                  <a:pt x="0" y="177711"/>
                </a:lnTo>
                <a:lnTo>
                  <a:pt x="0" y="5414403"/>
                </a:lnTo>
                <a:lnTo>
                  <a:pt x="6393" y="5461421"/>
                </a:lnTo>
                <a:lnTo>
                  <a:pt x="24409" y="5503812"/>
                </a:lnTo>
                <a:lnTo>
                  <a:pt x="52298" y="5539827"/>
                </a:lnTo>
                <a:lnTo>
                  <a:pt x="88312" y="5567717"/>
                </a:lnTo>
                <a:lnTo>
                  <a:pt x="130701" y="5585733"/>
                </a:lnTo>
                <a:lnTo>
                  <a:pt x="177717" y="5592127"/>
                </a:lnTo>
                <a:lnTo>
                  <a:pt x="6328092" y="5592127"/>
                </a:lnTo>
                <a:lnTo>
                  <a:pt x="6375110" y="5585733"/>
                </a:lnTo>
                <a:lnTo>
                  <a:pt x="6417501" y="5567717"/>
                </a:lnTo>
                <a:lnTo>
                  <a:pt x="6453516" y="5539827"/>
                </a:lnTo>
                <a:lnTo>
                  <a:pt x="6481405" y="5503812"/>
                </a:lnTo>
                <a:lnTo>
                  <a:pt x="6499422" y="5461421"/>
                </a:lnTo>
                <a:lnTo>
                  <a:pt x="6505816" y="5414403"/>
                </a:lnTo>
                <a:lnTo>
                  <a:pt x="6505816" y="177711"/>
                </a:lnTo>
                <a:lnTo>
                  <a:pt x="6499422" y="130698"/>
                </a:lnTo>
                <a:lnTo>
                  <a:pt x="6481405" y="88311"/>
                </a:lnTo>
                <a:lnTo>
                  <a:pt x="6453516" y="52298"/>
                </a:lnTo>
                <a:lnTo>
                  <a:pt x="6417501" y="24409"/>
                </a:lnTo>
                <a:lnTo>
                  <a:pt x="6375110" y="6393"/>
                </a:lnTo>
                <a:lnTo>
                  <a:pt x="6328092" y="0"/>
                </a:lnTo>
                <a:close/>
              </a:path>
            </a:pathLst>
          </a:custGeom>
          <a:solidFill>
            <a:srgbClr val="AC9EF5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20154" y="2105062"/>
            <a:ext cx="5006975" cy="2639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75">
                <a:latin typeface="Segoe UI Symbol"/>
                <a:cs typeface="Segoe UI Symbol"/>
              </a:rPr>
              <a:t>o</a:t>
            </a:r>
            <a:r>
              <a:rPr dirty="0" sz="2400" spc="5">
                <a:latin typeface="Segoe UI Symbol"/>
                <a:cs typeface="Segoe UI Symbol"/>
              </a:rPr>
              <a:t> </a:t>
            </a:r>
            <a:r>
              <a:rPr dirty="0" sz="2400" spc="-10">
                <a:latin typeface="Arial"/>
                <a:cs typeface="Arial"/>
              </a:rPr>
              <a:t>Advantages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dirty="0" sz="1900">
                <a:latin typeface="Arial"/>
                <a:cs typeface="Arial"/>
              </a:rPr>
              <a:t>Saves</a:t>
            </a:r>
            <a:r>
              <a:rPr dirty="0" sz="1900" spc="-7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significant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time</a:t>
            </a:r>
            <a:r>
              <a:rPr dirty="0" sz="1900" spc="-7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over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manual</a:t>
            </a:r>
            <a:r>
              <a:rPr dirty="0" sz="1900" spc="-7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tracking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latin typeface="Arial"/>
                <a:cs typeface="Arial"/>
              </a:rPr>
              <a:t>Reduces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costly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data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entry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errors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latin typeface="Arial"/>
                <a:cs typeface="Arial"/>
              </a:rPr>
              <a:t>Easy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use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with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minimal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training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latin typeface="Arial"/>
                <a:cs typeface="Arial"/>
              </a:rPr>
              <a:t>Improves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stock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control</a:t>
            </a:r>
            <a:r>
              <a:rPr dirty="0" sz="1900" spc="-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and</a:t>
            </a:r>
            <a:r>
              <a:rPr dirty="0" sz="1900" spc="-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planning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latin typeface="Arial"/>
                <a:cs typeface="Arial"/>
              </a:rPr>
              <a:t>Quick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access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information</a:t>
            </a:r>
            <a:r>
              <a:rPr dirty="0" sz="1900" spc="-3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anytime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11224" y="2125611"/>
            <a:ext cx="1838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55">
                <a:latin typeface="Segoe UI Emoji"/>
                <a:cs typeface="Segoe UI Emoji"/>
              </a:rPr>
              <a:t>⚠</a:t>
            </a:r>
            <a:r>
              <a:rPr dirty="0" sz="2400" spc="5">
                <a:latin typeface="Segoe UI Emoji"/>
                <a:cs typeface="Segoe UI Emoji"/>
              </a:rPr>
              <a:t> </a:t>
            </a:r>
            <a:r>
              <a:rPr dirty="0" sz="2400" spc="-10">
                <a:solidFill>
                  <a:srgbClr val="F5EFEF"/>
                </a:solidFill>
                <a:latin typeface="Arial"/>
                <a:cs typeface="Arial"/>
              </a:rPr>
              <a:t>Limitations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11224" y="2750756"/>
            <a:ext cx="5196205" cy="199390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Requires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basic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technical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knowledge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7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set</a:t>
            </a:r>
            <a:r>
              <a:rPr dirty="0" sz="1900" spc="-6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E1E6E9"/>
                </a:solidFill>
                <a:latin typeface="Arial"/>
                <a:cs typeface="Arial"/>
              </a:rPr>
              <a:t>up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Initial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configuration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takes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effort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Performance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depends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on</a:t>
            </a:r>
            <a:r>
              <a:rPr dirty="0" sz="1900" spc="-4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hardware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Needs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regular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maintenance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dirty="0" sz="1900" spc="-4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stay</a:t>
            </a:r>
            <a:r>
              <a:rPr dirty="0" sz="190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reliable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loss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risk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without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proper</a:t>
            </a:r>
            <a:r>
              <a:rPr dirty="0" sz="1900" spc="-5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E1E6E9"/>
                </a:solidFill>
                <a:latin typeface="Arial"/>
                <a:cs typeface="Arial"/>
              </a:rPr>
              <a:t>backup</a:t>
            </a:r>
            <a:r>
              <a:rPr dirty="0" sz="1900" spc="-6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E1E6E9"/>
                </a:solidFill>
                <a:latin typeface="Arial"/>
                <a:cs typeface="Arial"/>
              </a:rPr>
              <a:t>strategy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623924" y="5365546"/>
            <a:ext cx="6150610" cy="1838325"/>
            <a:chOff x="7623924" y="5365546"/>
            <a:chExt cx="6150610" cy="1838325"/>
          </a:xfrm>
        </p:grpSpPr>
        <p:sp>
          <p:nvSpPr>
            <p:cNvPr id="8" name="object 8" descr=""/>
            <p:cNvSpPr/>
            <p:nvPr/>
          </p:nvSpPr>
          <p:spPr>
            <a:xfrm>
              <a:off x="7623924" y="5365546"/>
              <a:ext cx="6150610" cy="1838325"/>
            </a:xfrm>
            <a:custGeom>
              <a:avLst/>
              <a:gdLst/>
              <a:ahLst/>
              <a:cxnLst/>
              <a:rect l="l" t="t" r="r" b="b"/>
              <a:pathLst>
                <a:path w="6150609" h="1838325">
                  <a:moveTo>
                    <a:pt x="6046635" y="0"/>
                  </a:moveTo>
                  <a:lnTo>
                    <a:pt x="103663" y="0"/>
                  </a:lnTo>
                  <a:lnTo>
                    <a:pt x="63474" y="8200"/>
                  </a:lnTo>
                  <a:lnTo>
                    <a:pt x="30505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1734667"/>
                  </a:lnTo>
                  <a:lnTo>
                    <a:pt x="8200" y="1774850"/>
                  </a:lnTo>
                  <a:lnTo>
                    <a:pt x="30505" y="1807818"/>
                  </a:lnTo>
                  <a:lnTo>
                    <a:pt x="63474" y="1830124"/>
                  </a:lnTo>
                  <a:lnTo>
                    <a:pt x="103663" y="1838325"/>
                  </a:lnTo>
                  <a:lnTo>
                    <a:pt x="6046635" y="1838325"/>
                  </a:lnTo>
                  <a:lnTo>
                    <a:pt x="6086818" y="1830124"/>
                  </a:lnTo>
                  <a:lnTo>
                    <a:pt x="6119785" y="1807818"/>
                  </a:lnTo>
                  <a:lnTo>
                    <a:pt x="6142091" y="1774850"/>
                  </a:lnTo>
                  <a:lnTo>
                    <a:pt x="6150292" y="1734667"/>
                  </a:lnTo>
                  <a:lnTo>
                    <a:pt x="6150292" y="103657"/>
                  </a:lnTo>
                  <a:lnTo>
                    <a:pt x="6142091" y="63474"/>
                  </a:lnTo>
                  <a:lnTo>
                    <a:pt x="6119785" y="30506"/>
                  </a:lnTo>
                  <a:lnTo>
                    <a:pt x="6086818" y="8200"/>
                  </a:lnTo>
                  <a:lnTo>
                    <a:pt x="6046635" y="0"/>
                  </a:lnTo>
                  <a:close/>
                </a:path>
              </a:pathLst>
            </a:custGeom>
            <a:solidFill>
              <a:srgbClr val="4A3E0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0749" y="5740006"/>
              <a:ext cx="308490" cy="246811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8413356" y="5656236"/>
            <a:ext cx="4905375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Always</a:t>
            </a:r>
            <a:r>
              <a:rPr dirty="0" sz="19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implement</a:t>
            </a:r>
            <a:r>
              <a:rPr dirty="0" sz="19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9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dirty="0" sz="19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backup</a:t>
            </a:r>
            <a:r>
              <a:rPr dirty="0" sz="19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routine</a:t>
            </a:r>
            <a:r>
              <a:rPr dirty="0" sz="19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prevent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dirty="0" sz="19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failure</a:t>
            </a:r>
            <a:r>
              <a:rPr dirty="0" sz="19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9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crashes.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654" y="609046"/>
            <a:ext cx="7142480" cy="131826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200"/>
              </a:lnSpc>
              <a:tabLst>
                <a:tab pos="1682114" algn="l"/>
                <a:tab pos="2268220" algn="l"/>
                <a:tab pos="3586479" algn="l"/>
                <a:tab pos="5429885" algn="l"/>
                <a:tab pos="6015990" algn="l"/>
              </a:tabLst>
            </a:pPr>
            <a:r>
              <a:rPr dirty="0" sz="4150" spc="-10"/>
              <a:t>Ready</a:t>
            </a:r>
            <a:r>
              <a:rPr dirty="0" sz="4150"/>
              <a:t>	</a:t>
            </a:r>
            <a:r>
              <a:rPr dirty="0" sz="4150" spc="-25"/>
              <a:t>to</a:t>
            </a:r>
            <a:r>
              <a:rPr dirty="0" sz="4150"/>
              <a:t>	</a:t>
            </a:r>
            <a:r>
              <a:rPr dirty="0" sz="4150" spc="-20"/>
              <a:t>Take</a:t>
            </a:r>
            <a:r>
              <a:rPr dirty="0" sz="4150"/>
              <a:t>	</a:t>
            </a:r>
            <a:r>
              <a:rPr dirty="0" sz="4150" spc="-10"/>
              <a:t>Control</a:t>
            </a:r>
            <a:r>
              <a:rPr dirty="0" sz="4150"/>
              <a:t>	</a:t>
            </a:r>
            <a:r>
              <a:rPr dirty="0" sz="4150" spc="-25"/>
              <a:t>of</a:t>
            </a:r>
            <a:r>
              <a:rPr dirty="0" sz="4150"/>
              <a:t>	</a:t>
            </a:r>
            <a:r>
              <a:rPr dirty="0" sz="4150" spc="-20"/>
              <a:t>Your </a:t>
            </a:r>
            <a:r>
              <a:rPr dirty="0" sz="4150" spc="-10"/>
              <a:t>Inventory?</a:t>
            </a:r>
            <a:endParaRPr sz="4150"/>
          </a:p>
        </p:txBody>
      </p:sp>
      <p:sp>
        <p:nvSpPr>
          <p:cNvPr id="4" name="object 4" descr=""/>
          <p:cNvSpPr/>
          <p:nvPr/>
        </p:nvSpPr>
        <p:spPr>
          <a:xfrm>
            <a:off x="742354" y="3693083"/>
            <a:ext cx="3738879" cy="22860"/>
          </a:xfrm>
          <a:custGeom>
            <a:avLst/>
            <a:gdLst/>
            <a:ahLst/>
            <a:cxnLst/>
            <a:rect l="l" t="t" r="r" b="b"/>
            <a:pathLst>
              <a:path w="3738879" h="22860">
                <a:moveTo>
                  <a:pt x="3738448" y="0"/>
                </a:moveTo>
                <a:lnTo>
                  <a:pt x="0" y="0"/>
                </a:lnTo>
                <a:lnTo>
                  <a:pt x="0" y="22859"/>
                </a:lnTo>
                <a:lnTo>
                  <a:pt x="3738448" y="22859"/>
                </a:lnTo>
                <a:lnTo>
                  <a:pt x="3738448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9654" y="3844328"/>
            <a:ext cx="3529329" cy="1071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Set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Up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 Environment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3700"/>
              </a:lnSpc>
              <a:spcBef>
                <a:spcPts val="875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Install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required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IDE,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compiler,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and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optionally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configure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database.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9654" y="2186838"/>
            <a:ext cx="7579995" cy="1465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An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Management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practical,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affordable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step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toward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running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E1E6E9"/>
                </a:solidFill>
                <a:latin typeface="Arial"/>
                <a:cs typeface="Arial"/>
              </a:rPr>
              <a:t>a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more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efficient,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accurate,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profitable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whether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you're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small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shop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owner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or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developer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building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first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system.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933190" algn="l"/>
              </a:tabLst>
            </a:pP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01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	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02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663084" y="3693083"/>
            <a:ext cx="3738879" cy="22860"/>
          </a:xfrm>
          <a:custGeom>
            <a:avLst/>
            <a:gdLst/>
            <a:ahLst/>
            <a:cxnLst/>
            <a:rect l="l" t="t" r="r" b="b"/>
            <a:pathLst>
              <a:path w="3738879" h="22860">
                <a:moveTo>
                  <a:pt x="3738562" y="0"/>
                </a:moveTo>
                <a:lnTo>
                  <a:pt x="0" y="0"/>
                </a:lnTo>
                <a:lnTo>
                  <a:pt x="0" y="22859"/>
                </a:lnTo>
                <a:lnTo>
                  <a:pt x="3738562" y="22859"/>
                </a:lnTo>
                <a:lnTo>
                  <a:pt x="3738562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650384" y="3844328"/>
            <a:ext cx="349631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Define</a:t>
            </a:r>
            <a:r>
              <a:rPr dirty="0" sz="20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dirty="0" sz="20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dirty="0" sz="2050" spc="-3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Structure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50384" y="4599635"/>
            <a:ext cx="3146425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Plan</a:t>
            </a:r>
            <a:r>
              <a:rPr dirty="0" sz="1650" spc="-1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what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fields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you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need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E1E6E9"/>
                </a:solidFill>
                <a:latin typeface="Arial"/>
                <a:cs typeface="Arial"/>
              </a:rPr>
              <a:t>—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name,</a:t>
            </a:r>
            <a:r>
              <a:rPr dirty="0" sz="16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quantity,</a:t>
            </a:r>
            <a:r>
              <a:rPr dirty="0" sz="16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price,</a:t>
            </a:r>
            <a:r>
              <a:rPr dirty="0" sz="1650" spc="-3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category, thresholds.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42354" y="6242215"/>
            <a:ext cx="7659370" cy="22860"/>
          </a:xfrm>
          <a:custGeom>
            <a:avLst/>
            <a:gdLst/>
            <a:ahLst/>
            <a:cxnLst/>
            <a:rect l="l" t="t" r="r" b="b"/>
            <a:pathLst>
              <a:path w="7659370" h="22860">
                <a:moveTo>
                  <a:pt x="7659293" y="0"/>
                </a:moveTo>
                <a:lnTo>
                  <a:pt x="0" y="0"/>
                </a:lnTo>
                <a:lnTo>
                  <a:pt x="0" y="22859"/>
                </a:lnTo>
                <a:lnTo>
                  <a:pt x="7659293" y="22859"/>
                </a:lnTo>
                <a:lnTo>
                  <a:pt x="7659293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29654" y="5924169"/>
            <a:ext cx="7671434" cy="1229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03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Build,</a:t>
            </a:r>
            <a:r>
              <a:rPr dirty="0" sz="20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Test</a:t>
            </a:r>
            <a:r>
              <a:rPr dirty="0" sz="20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dirty="0" sz="20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E1E6E9"/>
                </a:solidFill>
                <a:latin typeface="Arial"/>
                <a:cs typeface="Arial"/>
              </a:rPr>
              <a:t>Deploy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Implement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core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features,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test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real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data,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start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managing</a:t>
            </a:r>
            <a:r>
              <a:rPr dirty="0" sz="1650" spc="-2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dirty="0" sz="1650" spc="-25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E1E6E9"/>
                </a:solidFill>
                <a:latin typeface="Arial"/>
                <a:cs typeface="Arial"/>
              </a:rPr>
              <a:t>digitally.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2026-05-01T06:21:30Z</dcterms:created>
  <dcterms:modified xsi:type="dcterms:W3CDTF">2026-05-01T06:21:30Z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2026-05-01T00:00:00Z</vt:filetime>
  </property>
  <property fmtid="{D5CDD505-2E9C-101B-9397-08002B2CF9AE}" pid="3" name="LastSaved">
    <vt:filetime>2026-05-01T00:00:00Z</vt:filetime>
  </property>
  <property fmtid="{D5CDD505-2E9C-101B-9397-08002B2CF9AE}" pid="4" name="Producer">
    <vt:lpwstr>3-Heights(TM) PDF Security Shell 4.8.25.2 (http://www.pdf-tools.com)</vt:lpwstr>
  </property>
</Properties>
</file>